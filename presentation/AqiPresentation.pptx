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6" r:id="rId2"/>
    <p:sldId id="258" r:id="rId3"/>
    <p:sldId id="259" r:id="rId4"/>
    <p:sldId id="261" r:id="rId5"/>
    <p:sldId id="262" r:id="rId6"/>
    <p:sldId id="277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2C1BE5F-E540-4066-A650-A4949AFCE1DC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AE"/>
        </a:p>
      </dgm:t>
    </dgm:pt>
    <dgm:pt modelId="{3D078D38-C7F5-4426-B30A-F42C3ED4333D}">
      <dgm:prSet phldrT="[Text]"/>
      <dgm:spPr/>
      <dgm:t>
        <a:bodyPr/>
        <a:lstStyle/>
        <a:p>
          <a:r>
            <a:rPr lang="en-US" dirty="0"/>
            <a:t>PM10</a:t>
          </a:r>
          <a:endParaRPr lang="en-AE" dirty="0"/>
        </a:p>
      </dgm:t>
    </dgm:pt>
    <dgm:pt modelId="{E2923538-AD35-4F42-9CFB-45FC43DE54FF}" type="parTrans" cxnId="{D7A54A8E-52E5-406E-85BF-3DF47450944F}">
      <dgm:prSet/>
      <dgm:spPr/>
      <dgm:t>
        <a:bodyPr/>
        <a:lstStyle/>
        <a:p>
          <a:endParaRPr lang="en-AE"/>
        </a:p>
      </dgm:t>
    </dgm:pt>
    <dgm:pt modelId="{7F68C8E2-1CA7-4A39-8C22-7BB54BFE7981}" type="sibTrans" cxnId="{D7A54A8E-52E5-406E-85BF-3DF47450944F}">
      <dgm:prSet/>
      <dgm:spPr/>
      <dgm:t>
        <a:bodyPr/>
        <a:lstStyle/>
        <a:p>
          <a:endParaRPr lang="en-AE"/>
        </a:p>
      </dgm:t>
    </dgm:pt>
    <dgm:pt modelId="{9630CDC5-7F11-4DC3-94E4-D384019D525E}">
      <dgm:prSet phldrT="[Text]" custT="1"/>
      <dgm:spPr/>
      <dgm:t>
        <a:bodyPr/>
        <a:lstStyle/>
        <a:p>
          <a:r>
            <a:rPr lang="en-US" sz="2000" dirty="0"/>
            <a:t>Diameter&lt;10</a:t>
          </a:r>
          <a:r>
            <a:rPr lang="en-US" sz="2000" dirty="0">
              <a:latin typeface="Aptos" panose="020B0004020202020204" pitchFamily="34" charset="0"/>
            </a:rPr>
            <a:t>µm</a:t>
          </a:r>
          <a:endParaRPr lang="en-AE" sz="2000" dirty="0"/>
        </a:p>
      </dgm:t>
    </dgm:pt>
    <dgm:pt modelId="{BD00B5E0-1738-4DD5-9932-FF95CF0D1E91}" type="parTrans" cxnId="{1DC357E7-8C15-4986-A360-6CA6DB26EFFD}">
      <dgm:prSet/>
      <dgm:spPr/>
      <dgm:t>
        <a:bodyPr/>
        <a:lstStyle/>
        <a:p>
          <a:endParaRPr lang="en-AE"/>
        </a:p>
      </dgm:t>
    </dgm:pt>
    <dgm:pt modelId="{43414F95-4F1C-4065-B274-986F813240B3}" type="sibTrans" cxnId="{1DC357E7-8C15-4986-A360-6CA6DB26EFFD}">
      <dgm:prSet/>
      <dgm:spPr/>
      <dgm:t>
        <a:bodyPr/>
        <a:lstStyle/>
        <a:p>
          <a:endParaRPr lang="en-AE"/>
        </a:p>
      </dgm:t>
    </dgm:pt>
    <dgm:pt modelId="{1F076757-F2D1-4165-96CF-38C7281EAA77}">
      <dgm:prSet phldrT="[Text]" custT="1"/>
      <dgm:spPr/>
      <dgm:t>
        <a:bodyPr/>
        <a:lstStyle/>
        <a:p>
          <a:r>
            <a:rPr lang="en-US" sz="2000" dirty="0"/>
            <a:t>Moderate harm level</a:t>
          </a:r>
          <a:endParaRPr lang="en-AE" sz="2000" dirty="0"/>
        </a:p>
      </dgm:t>
    </dgm:pt>
    <dgm:pt modelId="{51B0AAD2-71C9-4250-AE87-7968B4B2F18F}" type="parTrans" cxnId="{8EE720E8-6928-4500-A7D8-5CCCFEFF1CB6}">
      <dgm:prSet/>
      <dgm:spPr/>
      <dgm:t>
        <a:bodyPr/>
        <a:lstStyle/>
        <a:p>
          <a:endParaRPr lang="en-AE"/>
        </a:p>
      </dgm:t>
    </dgm:pt>
    <dgm:pt modelId="{2AE9547F-6263-48D3-BB49-5C8EBC057743}" type="sibTrans" cxnId="{8EE720E8-6928-4500-A7D8-5CCCFEFF1CB6}">
      <dgm:prSet/>
      <dgm:spPr/>
      <dgm:t>
        <a:bodyPr/>
        <a:lstStyle/>
        <a:p>
          <a:endParaRPr lang="en-AE"/>
        </a:p>
      </dgm:t>
    </dgm:pt>
    <dgm:pt modelId="{96C17AB1-B59C-4423-8A69-819D14280DC5}">
      <dgm:prSet phldrT="[Text]"/>
      <dgm:spPr/>
      <dgm:t>
        <a:bodyPr/>
        <a:lstStyle/>
        <a:p>
          <a:r>
            <a:rPr lang="en-US" dirty="0"/>
            <a:t>PM2.5</a:t>
          </a:r>
          <a:endParaRPr lang="en-AE" dirty="0"/>
        </a:p>
      </dgm:t>
    </dgm:pt>
    <dgm:pt modelId="{8673856C-18CB-4AB0-90EF-235B494293D5}" type="parTrans" cxnId="{9CB98133-6527-4ECA-8F4F-1401F9051377}">
      <dgm:prSet/>
      <dgm:spPr/>
      <dgm:t>
        <a:bodyPr/>
        <a:lstStyle/>
        <a:p>
          <a:endParaRPr lang="en-AE"/>
        </a:p>
      </dgm:t>
    </dgm:pt>
    <dgm:pt modelId="{B857FC5C-C9BE-47C0-A3B6-17FB49F3992C}" type="sibTrans" cxnId="{9CB98133-6527-4ECA-8F4F-1401F9051377}">
      <dgm:prSet/>
      <dgm:spPr/>
      <dgm:t>
        <a:bodyPr/>
        <a:lstStyle/>
        <a:p>
          <a:endParaRPr lang="en-AE"/>
        </a:p>
      </dgm:t>
    </dgm:pt>
    <dgm:pt modelId="{902A2E91-206F-473D-803C-A45DF6BBB0AD}">
      <dgm:prSet phldrT="[Text]" custT="1"/>
      <dgm:spPr/>
      <dgm:t>
        <a:bodyPr/>
        <a:lstStyle/>
        <a:p>
          <a:r>
            <a:rPr lang="en-US" sz="2000" dirty="0"/>
            <a:t>Diameter&lt;2.5 </a:t>
          </a:r>
          <a:r>
            <a:rPr lang="en-US" sz="2000" dirty="0">
              <a:latin typeface="Aptos" panose="020B0004020202020204" pitchFamily="34" charset="0"/>
            </a:rPr>
            <a:t>µm</a:t>
          </a:r>
          <a:endParaRPr lang="en-AE" sz="2000" dirty="0"/>
        </a:p>
      </dgm:t>
    </dgm:pt>
    <dgm:pt modelId="{9E2D9D72-644B-4CF9-8D66-E88F2AE66B68}" type="parTrans" cxnId="{718B088B-80A1-4DF5-BBFF-F168D38F99C7}">
      <dgm:prSet/>
      <dgm:spPr/>
      <dgm:t>
        <a:bodyPr/>
        <a:lstStyle/>
        <a:p>
          <a:endParaRPr lang="en-AE"/>
        </a:p>
      </dgm:t>
    </dgm:pt>
    <dgm:pt modelId="{0285A432-637A-4234-8033-59FF7D2C1DB8}" type="sibTrans" cxnId="{718B088B-80A1-4DF5-BBFF-F168D38F99C7}">
      <dgm:prSet/>
      <dgm:spPr/>
      <dgm:t>
        <a:bodyPr/>
        <a:lstStyle/>
        <a:p>
          <a:endParaRPr lang="en-AE"/>
        </a:p>
      </dgm:t>
    </dgm:pt>
    <dgm:pt modelId="{4632CB53-8FCE-45AF-870F-0078BD4B68EB}">
      <dgm:prSet phldrT="[Text]" custT="1"/>
      <dgm:spPr/>
      <dgm:t>
        <a:bodyPr/>
        <a:lstStyle/>
        <a:p>
          <a:r>
            <a:rPr lang="en-US" sz="2000" dirty="0"/>
            <a:t>High harm level</a:t>
          </a:r>
          <a:endParaRPr lang="en-AE" sz="2000" dirty="0"/>
        </a:p>
      </dgm:t>
    </dgm:pt>
    <dgm:pt modelId="{EB523C77-9E6C-4740-B553-79790527CDE5}" type="parTrans" cxnId="{C59F3119-B71F-4BA2-829B-CC30D508834F}">
      <dgm:prSet/>
      <dgm:spPr/>
      <dgm:t>
        <a:bodyPr/>
        <a:lstStyle/>
        <a:p>
          <a:endParaRPr lang="en-AE"/>
        </a:p>
      </dgm:t>
    </dgm:pt>
    <dgm:pt modelId="{3D17688A-6510-4685-B7A7-7223AD5BBA93}" type="sibTrans" cxnId="{C59F3119-B71F-4BA2-829B-CC30D508834F}">
      <dgm:prSet/>
      <dgm:spPr/>
      <dgm:t>
        <a:bodyPr/>
        <a:lstStyle/>
        <a:p>
          <a:endParaRPr lang="en-AE"/>
        </a:p>
      </dgm:t>
    </dgm:pt>
    <dgm:pt modelId="{22712BDA-517B-4AD5-A9DC-C85821B74179}">
      <dgm:prSet phldrT="[Text]"/>
      <dgm:spPr/>
      <dgm:t>
        <a:bodyPr/>
        <a:lstStyle/>
        <a:p>
          <a:r>
            <a:rPr lang="en-US" dirty="0"/>
            <a:t>PM1</a:t>
          </a:r>
          <a:endParaRPr lang="en-AE" dirty="0"/>
        </a:p>
      </dgm:t>
    </dgm:pt>
    <dgm:pt modelId="{3B60B496-3DA4-469D-9D05-8D4DE5774DBA}" type="parTrans" cxnId="{56F8B78E-8048-4A48-9E63-22CEF160923F}">
      <dgm:prSet/>
      <dgm:spPr/>
      <dgm:t>
        <a:bodyPr/>
        <a:lstStyle/>
        <a:p>
          <a:endParaRPr lang="en-AE"/>
        </a:p>
      </dgm:t>
    </dgm:pt>
    <dgm:pt modelId="{5E97A8B4-F089-43AF-9060-1C43644D7419}" type="sibTrans" cxnId="{56F8B78E-8048-4A48-9E63-22CEF160923F}">
      <dgm:prSet/>
      <dgm:spPr/>
      <dgm:t>
        <a:bodyPr/>
        <a:lstStyle/>
        <a:p>
          <a:endParaRPr lang="en-AE"/>
        </a:p>
      </dgm:t>
    </dgm:pt>
    <dgm:pt modelId="{7E348720-28A4-400F-87FC-6A80039FAE91}">
      <dgm:prSet phldrT="[Text]" custT="1"/>
      <dgm:spPr/>
      <dgm:t>
        <a:bodyPr/>
        <a:lstStyle/>
        <a:p>
          <a:r>
            <a:rPr lang="en-US" sz="2000" dirty="0"/>
            <a:t>Diameter &lt; 1</a:t>
          </a:r>
          <a:r>
            <a:rPr lang="en-US" sz="2000" dirty="0">
              <a:latin typeface="Aptos" panose="020B0004020202020204" pitchFamily="34" charset="0"/>
            </a:rPr>
            <a:t>µm</a:t>
          </a:r>
          <a:endParaRPr lang="en-AE" sz="2000" dirty="0"/>
        </a:p>
      </dgm:t>
    </dgm:pt>
    <dgm:pt modelId="{AC42CF21-DF10-44C7-B4E1-9B12E4ADC3B8}" type="parTrans" cxnId="{2850F472-B08E-409A-A02B-E8B0EBDFC960}">
      <dgm:prSet/>
      <dgm:spPr/>
      <dgm:t>
        <a:bodyPr/>
        <a:lstStyle/>
        <a:p>
          <a:endParaRPr lang="en-AE"/>
        </a:p>
      </dgm:t>
    </dgm:pt>
    <dgm:pt modelId="{DD7E1081-49C5-403E-B215-46A3A9A84553}" type="sibTrans" cxnId="{2850F472-B08E-409A-A02B-E8B0EBDFC960}">
      <dgm:prSet/>
      <dgm:spPr/>
      <dgm:t>
        <a:bodyPr/>
        <a:lstStyle/>
        <a:p>
          <a:endParaRPr lang="en-AE"/>
        </a:p>
      </dgm:t>
    </dgm:pt>
    <dgm:pt modelId="{C3D8C47E-9DDD-4AEC-BC47-644539772AAA}">
      <dgm:prSet phldrT="[Text]" custT="1"/>
      <dgm:spPr/>
      <dgm:t>
        <a:bodyPr/>
        <a:lstStyle/>
        <a:p>
          <a:r>
            <a:rPr lang="en-US" sz="2000" dirty="0"/>
            <a:t>Highest harm level</a:t>
          </a:r>
          <a:endParaRPr lang="en-AE" sz="2000" dirty="0"/>
        </a:p>
      </dgm:t>
    </dgm:pt>
    <dgm:pt modelId="{863CDE30-EDD0-4DC2-9441-E82D226A66D7}" type="parTrans" cxnId="{D87539DD-FDD0-41D6-AB32-9A2AF2723E85}">
      <dgm:prSet/>
      <dgm:spPr/>
      <dgm:t>
        <a:bodyPr/>
        <a:lstStyle/>
        <a:p>
          <a:endParaRPr lang="en-AE"/>
        </a:p>
      </dgm:t>
    </dgm:pt>
    <dgm:pt modelId="{99D4363C-5E64-4AF9-AE14-F4A4DD269A26}" type="sibTrans" cxnId="{D87539DD-FDD0-41D6-AB32-9A2AF2723E85}">
      <dgm:prSet/>
      <dgm:spPr/>
      <dgm:t>
        <a:bodyPr/>
        <a:lstStyle/>
        <a:p>
          <a:endParaRPr lang="en-AE"/>
        </a:p>
      </dgm:t>
    </dgm:pt>
    <dgm:pt modelId="{B7EE0F28-E026-4C44-9802-799C118CC847}" type="pres">
      <dgm:prSet presAssocID="{52C1BE5F-E540-4066-A650-A4949AFCE1DC}" presName="Name0" presStyleCnt="0">
        <dgm:presLayoutVars>
          <dgm:dir/>
          <dgm:animLvl val="lvl"/>
          <dgm:resizeHandles val="exact"/>
        </dgm:presLayoutVars>
      </dgm:prSet>
      <dgm:spPr/>
    </dgm:pt>
    <dgm:pt modelId="{0E41F3A6-5404-4CE2-856F-350B92657105}" type="pres">
      <dgm:prSet presAssocID="{3D078D38-C7F5-4426-B30A-F42C3ED4333D}" presName="composite" presStyleCnt="0"/>
      <dgm:spPr/>
    </dgm:pt>
    <dgm:pt modelId="{849DBC5E-43C6-4FBD-AA43-3C87CB5A9454}" type="pres">
      <dgm:prSet presAssocID="{3D078D38-C7F5-4426-B30A-F42C3ED4333D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B5BA0F6C-2054-4F4E-9928-26A8043B3584}" type="pres">
      <dgm:prSet presAssocID="{3D078D38-C7F5-4426-B30A-F42C3ED4333D}" presName="desTx" presStyleLbl="alignAccFollowNode1" presStyleIdx="0" presStyleCnt="3">
        <dgm:presLayoutVars>
          <dgm:bulletEnabled val="1"/>
        </dgm:presLayoutVars>
      </dgm:prSet>
      <dgm:spPr/>
    </dgm:pt>
    <dgm:pt modelId="{3095DABA-FC63-4611-B5E5-4E9040F58C95}" type="pres">
      <dgm:prSet presAssocID="{7F68C8E2-1CA7-4A39-8C22-7BB54BFE7981}" presName="space" presStyleCnt="0"/>
      <dgm:spPr/>
    </dgm:pt>
    <dgm:pt modelId="{7F185352-C164-4776-8076-0101F91D1567}" type="pres">
      <dgm:prSet presAssocID="{96C17AB1-B59C-4423-8A69-819D14280DC5}" presName="composite" presStyleCnt="0"/>
      <dgm:spPr/>
    </dgm:pt>
    <dgm:pt modelId="{FD2C50B2-E74F-4930-8B85-B448EC57D8BA}" type="pres">
      <dgm:prSet presAssocID="{96C17AB1-B59C-4423-8A69-819D14280DC5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A4C27AD8-3268-45A9-AD49-D50393499B0E}" type="pres">
      <dgm:prSet presAssocID="{96C17AB1-B59C-4423-8A69-819D14280DC5}" presName="desTx" presStyleLbl="alignAccFollowNode1" presStyleIdx="1" presStyleCnt="3">
        <dgm:presLayoutVars>
          <dgm:bulletEnabled val="1"/>
        </dgm:presLayoutVars>
      </dgm:prSet>
      <dgm:spPr/>
    </dgm:pt>
    <dgm:pt modelId="{0932E6F6-A1D4-4320-845B-88CA969B50F0}" type="pres">
      <dgm:prSet presAssocID="{B857FC5C-C9BE-47C0-A3B6-17FB49F3992C}" presName="space" presStyleCnt="0"/>
      <dgm:spPr/>
    </dgm:pt>
    <dgm:pt modelId="{1105CB50-31CB-40FA-B051-B587E0C1FC85}" type="pres">
      <dgm:prSet presAssocID="{22712BDA-517B-4AD5-A9DC-C85821B74179}" presName="composite" presStyleCnt="0"/>
      <dgm:spPr/>
    </dgm:pt>
    <dgm:pt modelId="{CFF52C72-5848-48DA-9C72-F942A228307A}" type="pres">
      <dgm:prSet presAssocID="{22712BDA-517B-4AD5-A9DC-C85821B74179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E369100B-B8FF-4753-8677-2235ECC7A3CF}" type="pres">
      <dgm:prSet presAssocID="{22712BDA-517B-4AD5-A9DC-C85821B74179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9A6D8703-B1CD-4CB7-AFEE-048FEC72BF46}" type="presOf" srcId="{3D078D38-C7F5-4426-B30A-F42C3ED4333D}" destId="{849DBC5E-43C6-4FBD-AA43-3C87CB5A9454}" srcOrd="0" destOrd="0" presId="urn:microsoft.com/office/officeart/2005/8/layout/hList1"/>
    <dgm:cxn modelId="{C59F3119-B71F-4BA2-829B-CC30D508834F}" srcId="{96C17AB1-B59C-4423-8A69-819D14280DC5}" destId="{4632CB53-8FCE-45AF-870F-0078BD4B68EB}" srcOrd="1" destOrd="0" parTransId="{EB523C77-9E6C-4740-B553-79790527CDE5}" sibTransId="{3D17688A-6510-4685-B7A7-7223AD5BBA93}"/>
    <dgm:cxn modelId="{B387E92A-56C2-4507-A5BE-13222DCB1308}" type="presOf" srcId="{9630CDC5-7F11-4DC3-94E4-D384019D525E}" destId="{B5BA0F6C-2054-4F4E-9928-26A8043B3584}" srcOrd="0" destOrd="0" presId="urn:microsoft.com/office/officeart/2005/8/layout/hList1"/>
    <dgm:cxn modelId="{C0AA182E-56CD-4FCD-9AB5-8141222C3840}" type="presOf" srcId="{22712BDA-517B-4AD5-A9DC-C85821B74179}" destId="{CFF52C72-5848-48DA-9C72-F942A228307A}" srcOrd="0" destOrd="0" presId="urn:microsoft.com/office/officeart/2005/8/layout/hList1"/>
    <dgm:cxn modelId="{9CB98133-6527-4ECA-8F4F-1401F9051377}" srcId="{52C1BE5F-E540-4066-A650-A4949AFCE1DC}" destId="{96C17AB1-B59C-4423-8A69-819D14280DC5}" srcOrd="1" destOrd="0" parTransId="{8673856C-18CB-4AB0-90EF-235B494293D5}" sibTransId="{B857FC5C-C9BE-47C0-A3B6-17FB49F3992C}"/>
    <dgm:cxn modelId="{A39CDB3F-0A5E-47EC-A15C-973F2D33CC72}" type="presOf" srcId="{902A2E91-206F-473D-803C-A45DF6BBB0AD}" destId="{A4C27AD8-3268-45A9-AD49-D50393499B0E}" srcOrd="0" destOrd="0" presId="urn:microsoft.com/office/officeart/2005/8/layout/hList1"/>
    <dgm:cxn modelId="{20FE7B44-551F-42C5-BA31-D76D522DA7CC}" type="presOf" srcId="{C3D8C47E-9DDD-4AEC-BC47-644539772AAA}" destId="{E369100B-B8FF-4753-8677-2235ECC7A3CF}" srcOrd="0" destOrd="1" presId="urn:microsoft.com/office/officeart/2005/8/layout/hList1"/>
    <dgm:cxn modelId="{5884B767-65A0-4D4F-8E37-AE7994CBCC8F}" type="presOf" srcId="{1F076757-F2D1-4165-96CF-38C7281EAA77}" destId="{B5BA0F6C-2054-4F4E-9928-26A8043B3584}" srcOrd="0" destOrd="1" presId="urn:microsoft.com/office/officeart/2005/8/layout/hList1"/>
    <dgm:cxn modelId="{05D5DC4A-37F4-43B4-B554-A14183E9587D}" type="presOf" srcId="{52C1BE5F-E540-4066-A650-A4949AFCE1DC}" destId="{B7EE0F28-E026-4C44-9802-799C118CC847}" srcOrd="0" destOrd="0" presId="urn:microsoft.com/office/officeart/2005/8/layout/hList1"/>
    <dgm:cxn modelId="{2850F472-B08E-409A-A02B-E8B0EBDFC960}" srcId="{22712BDA-517B-4AD5-A9DC-C85821B74179}" destId="{7E348720-28A4-400F-87FC-6A80039FAE91}" srcOrd="0" destOrd="0" parTransId="{AC42CF21-DF10-44C7-B4E1-9B12E4ADC3B8}" sibTransId="{DD7E1081-49C5-403E-B215-46A3A9A84553}"/>
    <dgm:cxn modelId="{32D21877-0DB3-4E64-92E8-D965FB2B91F4}" type="presOf" srcId="{96C17AB1-B59C-4423-8A69-819D14280DC5}" destId="{FD2C50B2-E74F-4930-8B85-B448EC57D8BA}" srcOrd="0" destOrd="0" presId="urn:microsoft.com/office/officeart/2005/8/layout/hList1"/>
    <dgm:cxn modelId="{4F241478-E54E-42BC-959A-D057B8BFDC62}" type="presOf" srcId="{4632CB53-8FCE-45AF-870F-0078BD4B68EB}" destId="{A4C27AD8-3268-45A9-AD49-D50393499B0E}" srcOrd="0" destOrd="1" presId="urn:microsoft.com/office/officeart/2005/8/layout/hList1"/>
    <dgm:cxn modelId="{718B088B-80A1-4DF5-BBFF-F168D38F99C7}" srcId="{96C17AB1-B59C-4423-8A69-819D14280DC5}" destId="{902A2E91-206F-473D-803C-A45DF6BBB0AD}" srcOrd="0" destOrd="0" parTransId="{9E2D9D72-644B-4CF9-8D66-E88F2AE66B68}" sibTransId="{0285A432-637A-4234-8033-59FF7D2C1DB8}"/>
    <dgm:cxn modelId="{D7A54A8E-52E5-406E-85BF-3DF47450944F}" srcId="{52C1BE5F-E540-4066-A650-A4949AFCE1DC}" destId="{3D078D38-C7F5-4426-B30A-F42C3ED4333D}" srcOrd="0" destOrd="0" parTransId="{E2923538-AD35-4F42-9CFB-45FC43DE54FF}" sibTransId="{7F68C8E2-1CA7-4A39-8C22-7BB54BFE7981}"/>
    <dgm:cxn modelId="{56F8B78E-8048-4A48-9E63-22CEF160923F}" srcId="{52C1BE5F-E540-4066-A650-A4949AFCE1DC}" destId="{22712BDA-517B-4AD5-A9DC-C85821B74179}" srcOrd="2" destOrd="0" parTransId="{3B60B496-3DA4-469D-9D05-8D4DE5774DBA}" sibTransId="{5E97A8B4-F089-43AF-9060-1C43644D7419}"/>
    <dgm:cxn modelId="{9D7AFF96-9500-48E1-9D68-9E32D79491FC}" type="presOf" srcId="{7E348720-28A4-400F-87FC-6A80039FAE91}" destId="{E369100B-B8FF-4753-8677-2235ECC7A3CF}" srcOrd="0" destOrd="0" presId="urn:microsoft.com/office/officeart/2005/8/layout/hList1"/>
    <dgm:cxn modelId="{D87539DD-FDD0-41D6-AB32-9A2AF2723E85}" srcId="{22712BDA-517B-4AD5-A9DC-C85821B74179}" destId="{C3D8C47E-9DDD-4AEC-BC47-644539772AAA}" srcOrd="1" destOrd="0" parTransId="{863CDE30-EDD0-4DC2-9441-E82D226A66D7}" sibTransId="{99D4363C-5E64-4AF9-AE14-F4A4DD269A26}"/>
    <dgm:cxn modelId="{1DC357E7-8C15-4986-A360-6CA6DB26EFFD}" srcId="{3D078D38-C7F5-4426-B30A-F42C3ED4333D}" destId="{9630CDC5-7F11-4DC3-94E4-D384019D525E}" srcOrd="0" destOrd="0" parTransId="{BD00B5E0-1738-4DD5-9932-FF95CF0D1E91}" sibTransId="{43414F95-4F1C-4065-B274-986F813240B3}"/>
    <dgm:cxn modelId="{8EE720E8-6928-4500-A7D8-5CCCFEFF1CB6}" srcId="{3D078D38-C7F5-4426-B30A-F42C3ED4333D}" destId="{1F076757-F2D1-4165-96CF-38C7281EAA77}" srcOrd="1" destOrd="0" parTransId="{51B0AAD2-71C9-4250-AE87-7968B4B2F18F}" sibTransId="{2AE9547F-6263-48D3-BB49-5C8EBC057743}"/>
    <dgm:cxn modelId="{17B2950B-6A84-4B52-AA29-AB84A5B8DF53}" type="presParOf" srcId="{B7EE0F28-E026-4C44-9802-799C118CC847}" destId="{0E41F3A6-5404-4CE2-856F-350B92657105}" srcOrd="0" destOrd="0" presId="urn:microsoft.com/office/officeart/2005/8/layout/hList1"/>
    <dgm:cxn modelId="{C7D07C0E-9761-4E8A-94EC-E041CA5069EE}" type="presParOf" srcId="{0E41F3A6-5404-4CE2-856F-350B92657105}" destId="{849DBC5E-43C6-4FBD-AA43-3C87CB5A9454}" srcOrd="0" destOrd="0" presId="urn:microsoft.com/office/officeart/2005/8/layout/hList1"/>
    <dgm:cxn modelId="{81FF4102-B6EC-4D46-AC7F-4BB053BDEBCE}" type="presParOf" srcId="{0E41F3A6-5404-4CE2-856F-350B92657105}" destId="{B5BA0F6C-2054-4F4E-9928-26A8043B3584}" srcOrd="1" destOrd="0" presId="urn:microsoft.com/office/officeart/2005/8/layout/hList1"/>
    <dgm:cxn modelId="{9AB46D6F-E2A5-4F2B-BC92-94118AC9F83E}" type="presParOf" srcId="{B7EE0F28-E026-4C44-9802-799C118CC847}" destId="{3095DABA-FC63-4611-B5E5-4E9040F58C95}" srcOrd="1" destOrd="0" presId="urn:microsoft.com/office/officeart/2005/8/layout/hList1"/>
    <dgm:cxn modelId="{AA673196-2DA2-4D6E-82C0-53657407CE01}" type="presParOf" srcId="{B7EE0F28-E026-4C44-9802-799C118CC847}" destId="{7F185352-C164-4776-8076-0101F91D1567}" srcOrd="2" destOrd="0" presId="urn:microsoft.com/office/officeart/2005/8/layout/hList1"/>
    <dgm:cxn modelId="{0A920BB2-B4AD-4520-A5F8-3550D646D361}" type="presParOf" srcId="{7F185352-C164-4776-8076-0101F91D1567}" destId="{FD2C50B2-E74F-4930-8B85-B448EC57D8BA}" srcOrd="0" destOrd="0" presId="urn:microsoft.com/office/officeart/2005/8/layout/hList1"/>
    <dgm:cxn modelId="{7074B9AD-FF8E-4892-A184-6379FB964C97}" type="presParOf" srcId="{7F185352-C164-4776-8076-0101F91D1567}" destId="{A4C27AD8-3268-45A9-AD49-D50393499B0E}" srcOrd="1" destOrd="0" presId="urn:microsoft.com/office/officeart/2005/8/layout/hList1"/>
    <dgm:cxn modelId="{CA9F47FD-0F4A-45EE-81FD-33D5FB687C82}" type="presParOf" srcId="{B7EE0F28-E026-4C44-9802-799C118CC847}" destId="{0932E6F6-A1D4-4320-845B-88CA969B50F0}" srcOrd="3" destOrd="0" presId="urn:microsoft.com/office/officeart/2005/8/layout/hList1"/>
    <dgm:cxn modelId="{607F5867-1396-4720-989C-190E7A512C07}" type="presParOf" srcId="{B7EE0F28-E026-4C44-9802-799C118CC847}" destId="{1105CB50-31CB-40FA-B051-B587E0C1FC85}" srcOrd="4" destOrd="0" presId="urn:microsoft.com/office/officeart/2005/8/layout/hList1"/>
    <dgm:cxn modelId="{2D788270-EACE-4C2A-AFD7-FCCA4479ABF1}" type="presParOf" srcId="{1105CB50-31CB-40FA-B051-B587E0C1FC85}" destId="{CFF52C72-5848-48DA-9C72-F942A228307A}" srcOrd="0" destOrd="0" presId="urn:microsoft.com/office/officeart/2005/8/layout/hList1"/>
    <dgm:cxn modelId="{0F7BC275-C1B8-4138-9E98-93B12B156F9A}" type="presParOf" srcId="{1105CB50-31CB-40FA-B051-B587E0C1FC85}" destId="{E369100B-B8FF-4753-8677-2235ECC7A3CF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2615BB2-1949-4694-BC1B-75191F4A4A1B}" type="doc">
      <dgm:prSet loTypeId="urn:microsoft.com/office/officeart/2005/8/layout/arrow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AE"/>
        </a:p>
      </dgm:t>
    </dgm:pt>
    <dgm:pt modelId="{BF972E15-2B8B-4F3B-9128-A6F88C065823}">
      <dgm:prSet phldrT="[Text]" custT="1"/>
      <dgm:spPr/>
      <dgm:t>
        <a:bodyPr/>
        <a:lstStyle/>
        <a:p>
          <a:r>
            <a:rPr lang="en-US" sz="2400" dirty="0"/>
            <a:t>Pm10 Sub-index</a:t>
          </a:r>
          <a:endParaRPr lang="en-AE" sz="2400" dirty="0"/>
        </a:p>
      </dgm:t>
    </dgm:pt>
    <dgm:pt modelId="{83DA630F-CABB-45E1-B7C5-B8FEDF2DCF0A}" type="sibTrans" cxnId="{133142EC-6792-44A6-8163-9FEE5B4293D1}">
      <dgm:prSet/>
      <dgm:spPr/>
      <dgm:t>
        <a:bodyPr/>
        <a:lstStyle/>
        <a:p>
          <a:endParaRPr lang="en-AE"/>
        </a:p>
      </dgm:t>
    </dgm:pt>
    <dgm:pt modelId="{ECFBA155-8F52-49E8-9DE8-C4FD7E3F386C}" type="parTrans" cxnId="{133142EC-6792-44A6-8163-9FEE5B4293D1}">
      <dgm:prSet/>
      <dgm:spPr/>
      <dgm:t>
        <a:bodyPr/>
        <a:lstStyle/>
        <a:p>
          <a:endParaRPr lang="en-AE"/>
        </a:p>
      </dgm:t>
    </dgm:pt>
    <dgm:pt modelId="{7103024B-2617-4DBF-9AC0-765B22E71D0B}">
      <dgm:prSet phldrT="[Text]" custT="1"/>
      <dgm:spPr/>
      <dgm:t>
        <a:bodyPr/>
        <a:lstStyle/>
        <a:p>
          <a:r>
            <a:rPr lang="en-US" sz="2400" dirty="0"/>
            <a:t>PM2.5 Sub-index</a:t>
          </a:r>
          <a:endParaRPr lang="en-AE" sz="2400" dirty="0"/>
        </a:p>
      </dgm:t>
    </dgm:pt>
    <dgm:pt modelId="{E987FACA-7350-4966-A121-26010EFAF5B9}" type="parTrans" cxnId="{E13AAA04-40D8-4396-9699-BD0C44A7F9D2}">
      <dgm:prSet/>
      <dgm:spPr/>
      <dgm:t>
        <a:bodyPr/>
        <a:lstStyle/>
        <a:p>
          <a:endParaRPr lang="en-AE"/>
        </a:p>
      </dgm:t>
    </dgm:pt>
    <dgm:pt modelId="{47A8D46F-4569-48D3-A0AC-F2390AAA2399}" type="sibTrans" cxnId="{E13AAA04-40D8-4396-9699-BD0C44A7F9D2}">
      <dgm:prSet/>
      <dgm:spPr/>
      <dgm:t>
        <a:bodyPr/>
        <a:lstStyle/>
        <a:p>
          <a:endParaRPr lang="en-AE"/>
        </a:p>
      </dgm:t>
    </dgm:pt>
    <dgm:pt modelId="{3252C54F-4B06-45EA-9323-BE12DE85B02B}" type="pres">
      <dgm:prSet presAssocID="{E2615BB2-1949-4694-BC1B-75191F4A4A1B}" presName="diagram" presStyleCnt="0">
        <dgm:presLayoutVars>
          <dgm:dir/>
          <dgm:resizeHandles val="exact"/>
        </dgm:presLayoutVars>
      </dgm:prSet>
      <dgm:spPr/>
    </dgm:pt>
    <dgm:pt modelId="{CF46AF02-1AFD-41F2-8D7E-1AB5A63EABBF}" type="pres">
      <dgm:prSet presAssocID="{7103024B-2617-4DBF-9AC0-765B22E71D0B}" presName="arrow" presStyleLbl="node1" presStyleIdx="0" presStyleCnt="2" custScaleX="74152" custScaleY="98574">
        <dgm:presLayoutVars>
          <dgm:bulletEnabled val="1"/>
        </dgm:presLayoutVars>
      </dgm:prSet>
      <dgm:spPr/>
    </dgm:pt>
    <dgm:pt modelId="{BDA4974C-3166-45B8-89D1-BCDC160A02F1}" type="pres">
      <dgm:prSet presAssocID="{BF972E15-2B8B-4F3B-9128-A6F88C065823}" presName="arrow" presStyleLbl="node1" presStyleIdx="1" presStyleCnt="2" custScaleX="74152" custScaleY="98574">
        <dgm:presLayoutVars>
          <dgm:bulletEnabled val="1"/>
        </dgm:presLayoutVars>
      </dgm:prSet>
      <dgm:spPr/>
    </dgm:pt>
  </dgm:ptLst>
  <dgm:cxnLst>
    <dgm:cxn modelId="{E13AAA04-40D8-4396-9699-BD0C44A7F9D2}" srcId="{E2615BB2-1949-4694-BC1B-75191F4A4A1B}" destId="{7103024B-2617-4DBF-9AC0-765B22E71D0B}" srcOrd="0" destOrd="0" parTransId="{E987FACA-7350-4966-A121-26010EFAF5B9}" sibTransId="{47A8D46F-4569-48D3-A0AC-F2390AAA2399}"/>
    <dgm:cxn modelId="{D12A057E-5673-4B0F-BA3A-76D8B567CCC0}" type="presOf" srcId="{7103024B-2617-4DBF-9AC0-765B22E71D0B}" destId="{CF46AF02-1AFD-41F2-8D7E-1AB5A63EABBF}" srcOrd="0" destOrd="0" presId="urn:microsoft.com/office/officeart/2005/8/layout/arrow5"/>
    <dgm:cxn modelId="{97B57ED0-463A-46E8-B83A-60BD3FA4A5BC}" type="presOf" srcId="{E2615BB2-1949-4694-BC1B-75191F4A4A1B}" destId="{3252C54F-4B06-45EA-9323-BE12DE85B02B}" srcOrd="0" destOrd="0" presId="urn:microsoft.com/office/officeart/2005/8/layout/arrow5"/>
    <dgm:cxn modelId="{133142EC-6792-44A6-8163-9FEE5B4293D1}" srcId="{E2615BB2-1949-4694-BC1B-75191F4A4A1B}" destId="{BF972E15-2B8B-4F3B-9128-A6F88C065823}" srcOrd="1" destOrd="0" parTransId="{ECFBA155-8F52-49E8-9DE8-C4FD7E3F386C}" sibTransId="{83DA630F-CABB-45E1-B7C5-B8FEDF2DCF0A}"/>
    <dgm:cxn modelId="{F88798EF-7BB2-479A-8ED0-FC2B23C9F889}" type="presOf" srcId="{BF972E15-2B8B-4F3B-9128-A6F88C065823}" destId="{BDA4974C-3166-45B8-89D1-BCDC160A02F1}" srcOrd="0" destOrd="0" presId="urn:microsoft.com/office/officeart/2005/8/layout/arrow5"/>
    <dgm:cxn modelId="{795D3F3E-3C43-49EC-BFA7-EEEE27713AD9}" type="presParOf" srcId="{3252C54F-4B06-45EA-9323-BE12DE85B02B}" destId="{CF46AF02-1AFD-41F2-8D7E-1AB5A63EABBF}" srcOrd="0" destOrd="0" presId="urn:microsoft.com/office/officeart/2005/8/layout/arrow5"/>
    <dgm:cxn modelId="{991BC500-C827-4B6D-87A0-489405F2A8DE}" type="presParOf" srcId="{3252C54F-4B06-45EA-9323-BE12DE85B02B}" destId="{BDA4974C-3166-45B8-89D1-BCDC160A02F1}" srcOrd="1" destOrd="0" presId="urn:microsoft.com/office/officeart/2005/8/layout/arrow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9DBC5E-43C6-4FBD-AA43-3C87CB5A9454}">
      <dsp:nvSpPr>
        <dsp:cNvPr id="0" name=""/>
        <dsp:cNvSpPr/>
      </dsp:nvSpPr>
      <dsp:spPr>
        <a:xfrm>
          <a:off x="2246" y="661800"/>
          <a:ext cx="2190592" cy="87623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7368" tIns="158496" rIns="277368" bIns="158496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 dirty="0"/>
            <a:t>PM10</a:t>
          </a:r>
          <a:endParaRPr lang="en-AE" sz="3900" kern="1200" dirty="0"/>
        </a:p>
      </dsp:txBody>
      <dsp:txXfrm>
        <a:off x="2246" y="661800"/>
        <a:ext cx="2190592" cy="876237"/>
      </dsp:txXfrm>
    </dsp:sp>
    <dsp:sp modelId="{B5BA0F6C-2054-4F4E-9928-26A8043B3584}">
      <dsp:nvSpPr>
        <dsp:cNvPr id="0" name=""/>
        <dsp:cNvSpPr/>
      </dsp:nvSpPr>
      <dsp:spPr>
        <a:xfrm>
          <a:off x="2246" y="1538037"/>
          <a:ext cx="2190592" cy="171288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Diameter&lt;10</a:t>
          </a:r>
          <a:r>
            <a:rPr lang="en-US" sz="2000" kern="1200" dirty="0">
              <a:latin typeface="Aptos" panose="020B0004020202020204" pitchFamily="34" charset="0"/>
            </a:rPr>
            <a:t>µm</a:t>
          </a:r>
          <a:endParaRPr lang="en-AE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Moderate harm level</a:t>
          </a:r>
          <a:endParaRPr lang="en-AE" sz="2000" kern="1200" dirty="0"/>
        </a:p>
      </dsp:txBody>
      <dsp:txXfrm>
        <a:off x="2246" y="1538037"/>
        <a:ext cx="2190592" cy="1712880"/>
      </dsp:txXfrm>
    </dsp:sp>
    <dsp:sp modelId="{FD2C50B2-E74F-4930-8B85-B448EC57D8BA}">
      <dsp:nvSpPr>
        <dsp:cNvPr id="0" name=""/>
        <dsp:cNvSpPr/>
      </dsp:nvSpPr>
      <dsp:spPr>
        <a:xfrm>
          <a:off x="2499522" y="661800"/>
          <a:ext cx="2190592" cy="87623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7368" tIns="158496" rIns="277368" bIns="158496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 dirty="0"/>
            <a:t>PM2.5</a:t>
          </a:r>
          <a:endParaRPr lang="en-AE" sz="3900" kern="1200" dirty="0"/>
        </a:p>
      </dsp:txBody>
      <dsp:txXfrm>
        <a:off x="2499522" y="661800"/>
        <a:ext cx="2190592" cy="876237"/>
      </dsp:txXfrm>
    </dsp:sp>
    <dsp:sp modelId="{A4C27AD8-3268-45A9-AD49-D50393499B0E}">
      <dsp:nvSpPr>
        <dsp:cNvPr id="0" name=""/>
        <dsp:cNvSpPr/>
      </dsp:nvSpPr>
      <dsp:spPr>
        <a:xfrm>
          <a:off x="2499522" y="1538037"/>
          <a:ext cx="2190592" cy="171288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Diameter&lt;2.5 </a:t>
          </a:r>
          <a:r>
            <a:rPr lang="en-US" sz="2000" kern="1200" dirty="0">
              <a:latin typeface="Aptos" panose="020B0004020202020204" pitchFamily="34" charset="0"/>
            </a:rPr>
            <a:t>µm</a:t>
          </a:r>
          <a:endParaRPr lang="en-AE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High harm level</a:t>
          </a:r>
          <a:endParaRPr lang="en-AE" sz="2000" kern="1200" dirty="0"/>
        </a:p>
      </dsp:txBody>
      <dsp:txXfrm>
        <a:off x="2499522" y="1538037"/>
        <a:ext cx="2190592" cy="1712880"/>
      </dsp:txXfrm>
    </dsp:sp>
    <dsp:sp modelId="{CFF52C72-5848-48DA-9C72-F942A228307A}">
      <dsp:nvSpPr>
        <dsp:cNvPr id="0" name=""/>
        <dsp:cNvSpPr/>
      </dsp:nvSpPr>
      <dsp:spPr>
        <a:xfrm>
          <a:off x="4996798" y="661800"/>
          <a:ext cx="2190592" cy="87623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7368" tIns="158496" rIns="277368" bIns="158496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 dirty="0"/>
            <a:t>PM1</a:t>
          </a:r>
          <a:endParaRPr lang="en-AE" sz="3900" kern="1200" dirty="0"/>
        </a:p>
      </dsp:txBody>
      <dsp:txXfrm>
        <a:off x="4996798" y="661800"/>
        <a:ext cx="2190592" cy="876237"/>
      </dsp:txXfrm>
    </dsp:sp>
    <dsp:sp modelId="{E369100B-B8FF-4753-8677-2235ECC7A3CF}">
      <dsp:nvSpPr>
        <dsp:cNvPr id="0" name=""/>
        <dsp:cNvSpPr/>
      </dsp:nvSpPr>
      <dsp:spPr>
        <a:xfrm>
          <a:off x="4996798" y="1538037"/>
          <a:ext cx="2190592" cy="171288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Diameter &lt; 1</a:t>
          </a:r>
          <a:r>
            <a:rPr lang="en-US" sz="2000" kern="1200" dirty="0">
              <a:latin typeface="Aptos" panose="020B0004020202020204" pitchFamily="34" charset="0"/>
            </a:rPr>
            <a:t>µm</a:t>
          </a:r>
          <a:endParaRPr lang="en-AE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Highest harm level</a:t>
          </a:r>
          <a:endParaRPr lang="en-AE" sz="2000" kern="1200" dirty="0"/>
        </a:p>
      </dsp:txBody>
      <dsp:txXfrm>
        <a:off x="4996798" y="1538037"/>
        <a:ext cx="2190592" cy="171288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46AF02-1AFD-41F2-8D7E-1AB5A63EABBF}">
      <dsp:nvSpPr>
        <dsp:cNvPr id="0" name=""/>
        <dsp:cNvSpPr/>
      </dsp:nvSpPr>
      <dsp:spPr>
        <a:xfrm rot="16200000">
          <a:off x="388292" y="21739"/>
          <a:ext cx="2219044" cy="2949887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PM2.5 Sub-index</a:t>
          </a:r>
          <a:endParaRPr lang="en-AE" sz="2400" kern="1200" dirty="0"/>
        </a:p>
      </dsp:txBody>
      <dsp:txXfrm rot="5400000">
        <a:off x="22871" y="941921"/>
        <a:ext cx="2561554" cy="1109522"/>
      </dsp:txXfrm>
    </dsp:sp>
    <dsp:sp modelId="{BDA4974C-3166-45B8-89D1-BCDC160A02F1}">
      <dsp:nvSpPr>
        <dsp:cNvPr id="0" name=""/>
        <dsp:cNvSpPr/>
      </dsp:nvSpPr>
      <dsp:spPr>
        <a:xfrm rot="5400000">
          <a:off x="5988407" y="21739"/>
          <a:ext cx="2219044" cy="2949887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Pm10 Sub-index</a:t>
          </a:r>
          <a:endParaRPr lang="en-AE" sz="2400" kern="1200" dirty="0"/>
        </a:p>
      </dsp:txBody>
      <dsp:txXfrm rot="-5400000">
        <a:off x="6011319" y="941922"/>
        <a:ext cx="2561554" cy="110952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arrow5">
  <dgm:title val=""/>
  <dgm:desc val=""/>
  <dgm:catLst>
    <dgm:cat type="relationship" pri="6000"/>
    <dgm:cat type="process" pri="3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ch" ptType="node" func="cnt" op="equ" val="2">
        <dgm:choose name="Name2">
          <dgm:if name="Name3" func="var" arg="dir" op="equ" val="norm">
            <dgm:alg type="cycle">
              <dgm:param type="rotPath" val="alongPath"/>
              <dgm:param type="stAng" val="270"/>
            </dgm:alg>
          </dgm:if>
          <dgm:else name="Name4">
            <dgm:alg type="cycle">
              <dgm:param type="rotPath" val="alongPath"/>
              <dgm:param type="stAng" val="90"/>
              <dgm:param type="spanAng" val="-360"/>
            </dgm:alg>
          </dgm:else>
        </dgm:choose>
      </dgm:if>
      <dgm:else name="Name5">
        <dgm:choose name="Name6">
          <dgm:if name="Name7" func="var" arg="dir" op="equ" val="norm">
            <dgm:alg type="cycle">
              <dgm:param type="rotPath" val="alongPath"/>
            </dgm:alg>
          </dgm:if>
          <dgm:else name="Name8">
            <dgm:alg type="cycle">
              <dgm:param type="rotPath" val="alongPath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lte" val="2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0.1"/>
          <dgm:constr type="sibSp" refType="h" op="lte" fact="0.1"/>
          <dgm:constr type="diam" refType="w" refFor="ch" refPtType="node" op="equ" fact="1.1"/>
        </dgm:constrLst>
      </dgm:if>
      <dgm:if name="Name11" axis="ch" ptType="node" func="cnt" op="equ" val="5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2"/>
          <dgm:constr type="sibSp" refType="h" op="lte" fact="0.1"/>
        </dgm:constrLst>
      </dgm:if>
      <dgm:if name="Name12" axis="ch" ptType="node" func="cnt" op="equ" val="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3" axis="ch" ptType="node" func="cnt" op="equ" val="7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4" axis="ch" ptType="node" func="cnt" op="equ" val="8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/>
          <dgm:constr type="sibSp" refType="h" op="lte" fact="0.1"/>
        </dgm:constrLst>
      </dgm:if>
      <dgm:if name="Name15" axis="ch" ptType="node" func="cnt" op="gte" val="9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else name="Name1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35"/>
        </dgm:constrLst>
      </dgm:else>
    </dgm:choose>
    <dgm:ruleLst/>
    <dgm:forEach name="Name17" axis="ch" ptType="node">
      <dgm:layoutNode name="arrow">
        <dgm:varLst>
          <dgm:bulletEnabled val="1"/>
        </dgm:varLst>
        <dgm:alg type="tx"/>
        <dgm:shape xmlns:r="http://schemas.openxmlformats.org/officeDocument/2006/relationships" type="downArrow" r:blip="">
          <dgm:adjLst>
            <dgm:adj idx="2" val="0.35"/>
          </dgm:adjLst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60A13-8791-489B-82C8-90234A98E084}" type="datetimeFigureOut">
              <a:rPr lang="en-AE" smtClean="0"/>
              <a:t>19/08/2026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85A0-983C-44F7-B285-FC18B2AED515}" type="slidenum">
              <a:rPr lang="en-AE" smtClean="0"/>
              <a:t>‹#›</a:t>
            </a:fld>
            <a:endParaRPr lang="en-AE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3702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60A13-8791-489B-82C8-90234A98E084}" type="datetimeFigureOut">
              <a:rPr lang="en-AE" smtClean="0"/>
              <a:t>19/08/2026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85A0-983C-44F7-B285-FC18B2AED515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969198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60A13-8791-489B-82C8-90234A98E084}" type="datetimeFigureOut">
              <a:rPr lang="en-AE" smtClean="0"/>
              <a:t>19/08/2026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85A0-983C-44F7-B285-FC18B2AED515}" type="slidenum">
              <a:rPr lang="en-AE" smtClean="0"/>
              <a:t>‹#›</a:t>
            </a:fld>
            <a:endParaRPr lang="en-AE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0560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60A13-8791-489B-82C8-90234A98E084}" type="datetimeFigureOut">
              <a:rPr lang="en-AE" smtClean="0"/>
              <a:t>19/08/2026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85A0-983C-44F7-B285-FC18B2AED515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175459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60A13-8791-489B-82C8-90234A98E084}" type="datetimeFigureOut">
              <a:rPr lang="en-AE" smtClean="0"/>
              <a:t>19/08/2026</a:t>
            </a:fld>
            <a:endParaRPr lang="en-A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85A0-983C-44F7-B285-FC18B2AED515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842360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60A13-8791-489B-82C8-90234A98E084}" type="datetimeFigureOut">
              <a:rPr lang="en-AE" smtClean="0"/>
              <a:t>19/08/2026</a:t>
            </a:fld>
            <a:endParaRPr lang="en-A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85A0-983C-44F7-B285-FC18B2AED515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74413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60A13-8791-489B-82C8-90234A98E084}" type="datetimeFigureOut">
              <a:rPr lang="en-AE" smtClean="0"/>
              <a:t>19/08/2026</a:t>
            </a:fld>
            <a:endParaRPr lang="en-A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A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85A0-983C-44F7-B285-FC18B2AED515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159081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EB560A13-8791-489B-82C8-90234A98E084}" type="datetimeFigureOut">
              <a:rPr lang="en-AE" smtClean="0"/>
              <a:t>19/08/2026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58F85A0-983C-44F7-B285-FC18B2AED515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745441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60A13-8791-489B-82C8-90234A98E084}" type="datetimeFigureOut">
              <a:rPr lang="en-AE" smtClean="0"/>
              <a:t>19/08/2026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85A0-983C-44F7-B285-FC18B2AED515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384989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60A13-8791-489B-82C8-90234A98E084}" type="datetimeFigureOut">
              <a:rPr lang="en-AE" smtClean="0"/>
              <a:t>19/08/2026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85A0-983C-44F7-B285-FC18B2AED515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130435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60A13-8791-489B-82C8-90234A98E084}" type="datetimeFigureOut">
              <a:rPr lang="en-AE" smtClean="0"/>
              <a:t>19/08/2026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85A0-983C-44F7-B285-FC18B2AED515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837573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B560A13-8791-489B-82C8-90234A98E084}" type="datetimeFigureOut">
              <a:rPr lang="en-AE" smtClean="0"/>
              <a:t>19/08/2026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58F85A0-983C-44F7-B285-FC18B2AED515}" type="slidenum">
              <a:rPr lang="en-AE" smtClean="0"/>
              <a:t>‹#›</a:t>
            </a:fld>
            <a:endParaRPr lang="en-AE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8563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pollution.gov.np/gss/api/observation" TargetMode="External"/><Relationship Id="rId2" Type="http://schemas.openxmlformats.org/officeDocument/2006/relationships/hyperlink" Target="https://doenv.gov.np/content/77/aqmsdata2024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39A4B-09CF-AC6F-AEAF-0074B4B239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AQI Prediction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28191461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D26E1-A983-0071-7059-C9077A061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What is an AQI?</a:t>
            </a:r>
            <a:endParaRPr lang="en-AE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F30318-C326-D86A-33E3-DC93114A13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2944927"/>
          </a:xfrm>
        </p:spPr>
        <p:txBody>
          <a:bodyPr>
            <a:normAutofit/>
          </a:bodyPr>
          <a:lstStyle/>
          <a:p>
            <a:pPr algn="just"/>
            <a:r>
              <a:rPr lang="en-US" sz="3600" dirty="0"/>
              <a:t>An Air Quality Index aka AQI is a numerical scale used to represent the quality of air and health risk to the public. Higher the AQI , worse air quality thus greater health concerns.</a:t>
            </a:r>
            <a:endParaRPr lang="en-AE" sz="4000" dirty="0"/>
          </a:p>
        </p:txBody>
      </p:sp>
    </p:spTree>
    <p:extLst>
      <p:ext uri="{BB962C8B-B14F-4D97-AF65-F5344CB8AC3E}">
        <p14:creationId xmlns:p14="http://schemas.microsoft.com/office/powerpoint/2010/main" val="37229012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D26E1-A983-0071-7059-C9077A061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298214" cy="1450757"/>
          </a:xfrm>
        </p:spPr>
        <p:txBody>
          <a:bodyPr>
            <a:normAutofit/>
          </a:bodyPr>
          <a:lstStyle/>
          <a:p>
            <a:r>
              <a:rPr lang="en-US" sz="4400" dirty="0"/>
              <a:t>AQI Categories in Nepal</a:t>
            </a:r>
            <a:endParaRPr lang="en-AE" sz="44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0F30318-C326-D86A-33E3-DC93114A13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020228"/>
          </a:xfrm>
        </p:spPr>
        <p:txBody>
          <a:bodyPr>
            <a:normAutofit fontScale="92500" lnSpcReduction="20000"/>
          </a:bodyPr>
          <a:lstStyle/>
          <a:p>
            <a:pPr algn="just">
              <a:buFont typeface="Courier New" panose="02070309020205020404" pitchFamily="49" charset="0"/>
              <a:buChar char="o"/>
            </a:pPr>
            <a:r>
              <a:rPr lang="en-US" sz="4000" dirty="0"/>
              <a:t>Good (0-50)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sz="4000" dirty="0"/>
              <a:t>Moderate (51-100)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sz="4000" dirty="0"/>
              <a:t>Unhealthy for Sensitive Groups (101-150)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sz="4000" dirty="0"/>
              <a:t>Unhealthy (151-200)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sz="4000" dirty="0"/>
              <a:t>Very Unhealthy (201-300)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sz="4000" dirty="0"/>
              <a:t>Hazardous (301-400)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sz="4000" dirty="0"/>
              <a:t>Very Hazardous(401-500)</a:t>
            </a:r>
          </a:p>
          <a:p>
            <a:pPr algn="just"/>
            <a:endParaRPr lang="en-AE" sz="4000" dirty="0"/>
          </a:p>
        </p:txBody>
      </p:sp>
    </p:spTree>
    <p:extLst>
      <p:ext uri="{BB962C8B-B14F-4D97-AF65-F5344CB8AC3E}">
        <p14:creationId xmlns:p14="http://schemas.microsoft.com/office/powerpoint/2010/main" val="40284166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D26E1-A983-0071-7059-C9077A061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Pollutants Used</a:t>
            </a:r>
            <a:endParaRPr lang="en-AE" sz="4400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D91D3DD6-1BA2-4129-3B21-BCC0D897F68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7014041"/>
              </p:ext>
            </p:extLst>
          </p:nvPr>
        </p:nvGraphicFramePr>
        <p:xfrm>
          <a:off x="2501181" y="1472641"/>
          <a:ext cx="7189638" cy="39127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804393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D26E1-A983-0071-7059-C9077A061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How is AQI calculated?</a:t>
            </a:r>
            <a:endParaRPr lang="en-AE" sz="4400" dirty="0"/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6AC941E4-F619-A494-18EA-ADC9934E341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44579779"/>
              </p:ext>
            </p:extLst>
          </p:nvPr>
        </p:nvGraphicFramePr>
        <p:xfrm>
          <a:off x="1798126" y="2208363"/>
          <a:ext cx="8595745" cy="29933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Oval 10">
            <a:extLst>
              <a:ext uri="{FF2B5EF4-FFF2-40B4-BE49-F238E27FC236}">
                <a16:creationId xmlns:a16="http://schemas.microsoft.com/office/drawing/2014/main" id="{4141C40C-1460-72A6-CA05-C472F79DF617}"/>
              </a:ext>
            </a:extLst>
          </p:cNvPr>
          <p:cNvSpPr/>
          <p:nvPr/>
        </p:nvSpPr>
        <p:spPr>
          <a:xfrm>
            <a:off x="5237671" y="3019246"/>
            <a:ext cx="1716657" cy="13716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Maximum Sub-index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38057277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D26E1-A983-0071-7059-C9077A061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How is sub index calculated?</a:t>
            </a:r>
            <a:endParaRPr lang="en-AE" sz="4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2AAD92-C0A4-2916-0018-D2B3569854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1442" y="3429000"/>
            <a:ext cx="6564701" cy="1824487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0F30318-C326-D86A-33E3-DC93114A13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2944927"/>
          </a:xfrm>
        </p:spPr>
        <p:txBody>
          <a:bodyPr>
            <a:normAutofit/>
          </a:bodyPr>
          <a:lstStyle/>
          <a:p>
            <a:pPr algn="just"/>
            <a:r>
              <a:rPr lang="en-US" sz="3600" dirty="0"/>
              <a:t>From measured/ forecasted value we put it into this formula to calculate the sub index of each pollutant.</a:t>
            </a:r>
            <a:endParaRPr lang="en-AE" sz="4000" dirty="0"/>
          </a:p>
        </p:txBody>
      </p:sp>
    </p:spTree>
    <p:extLst>
      <p:ext uri="{BB962C8B-B14F-4D97-AF65-F5344CB8AC3E}">
        <p14:creationId xmlns:p14="http://schemas.microsoft.com/office/powerpoint/2010/main" val="30443306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001B2F3-7267-44A9-12ED-B07C9250D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  <a:endParaRPr lang="en-AE" dirty="0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B3DB7705-7E02-902A-E002-28512690AD3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1774760"/>
            <a:ext cx="6663363" cy="4165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just" fontAlgn="base">
              <a:lnSpc>
                <a:spcPct val="80000"/>
              </a:lnSpc>
              <a:buFontTx/>
              <a:buChar char="•"/>
              <a:tabLst/>
            </a:pPr>
            <a:r>
              <a:rPr lang="en-US" altLang="en-US" sz="3700" dirty="0"/>
              <a:t>Collect AQMS data </a:t>
            </a:r>
          </a:p>
          <a:p>
            <a:pPr marR="0" lvl="0" algn="just" fontAlgn="base">
              <a:lnSpc>
                <a:spcPct val="80000"/>
              </a:lnSpc>
              <a:buFontTx/>
              <a:buChar char="•"/>
              <a:tabLst/>
            </a:pPr>
            <a:r>
              <a:rPr lang="en-US" altLang="en-US" sz="3700" dirty="0"/>
              <a:t>Forecast PM2.5 </a:t>
            </a:r>
          </a:p>
          <a:p>
            <a:pPr marR="0" lvl="0" algn="just" fontAlgn="base">
              <a:lnSpc>
                <a:spcPct val="80000"/>
              </a:lnSpc>
              <a:buFontTx/>
              <a:buChar char="•"/>
              <a:tabLst/>
            </a:pPr>
            <a:r>
              <a:rPr lang="en-US" altLang="en-US" sz="3700" dirty="0"/>
              <a:t>Forecast PM10 </a:t>
            </a:r>
          </a:p>
          <a:p>
            <a:pPr marR="0" lvl="0" algn="just" fontAlgn="base">
              <a:lnSpc>
                <a:spcPct val="80000"/>
              </a:lnSpc>
              <a:buFontTx/>
              <a:buChar char="•"/>
              <a:tabLst/>
            </a:pPr>
            <a:r>
              <a:rPr lang="en-US" altLang="en-US" sz="3700" dirty="0"/>
              <a:t>Calculate AQI </a:t>
            </a:r>
          </a:p>
          <a:p>
            <a:pPr marR="0" lvl="0" algn="just" fontAlgn="base">
              <a:lnSpc>
                <a:spcPct val="80000"/>
              </a:lnSpc>
              <a:buFontTx/>
              <a:buChar char="•"/>
              <a:tabLst/>
            </a:pPr>
            <a:r>
              <a:rPr lang="en-US" altLang="en-US" sz="3700" dirty="0"/>
              <a:t>Build web application </a:t>
            </a:r>
          </a:p>
          <a:p>
            <a:pPr marR="0" lvl="0" algn="just" fontAlgn="base">
              <a:lnSpc>
                <a:spcPct val="80000"/>
              </a:lnSpc>
              <a:buFontTx/>
              <a:buChar char="•"/>
              <a:tabLst/>
            </a:pPr>
            <a:r>
              <a:rPr lang="en-US" altLang="en-US" sz="3700" dirty="0"/>
              <a:t>Provide next-day AQI prediction </a:t>
            </a:r>
          </a:p>
        </p:txBody>
      </p:sp>
    </p:spTree>
    <p:extLst>
      <p:ext uri="{BB962C8B-B14F-4D97-AF65-F5344CB8AC3E}">
        <p14:creationId xmlns:p14="http://schemas.microsoft.com/office/powerpoint/2010/main" val="31987059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D26E1-A983-0071-7059-C9077A061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sources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F30318-C326-D86A-33E3-DC93114A13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2944927"/>
          </a:xfrm>
        </p:spPr>
        <p:txBody>
          <a:bodyPr>
            <a:normAutofit/>
          </a:bodyPr>
          <a:lstStyle/>
          <a:p>
            <a:pPr algn="l" rtl="0" fontAlgn="base"/>
            <a:r>
              <a:rPr lang="en-US" sz="2800" b="0" i="0" dirty="0">
                <a:solidFill>
                  <a:srgbClr val="273239"/>
                </a:solidFill>
                <a:effectLst/>
              </a:rPr>
              <a:t>Past historica</a:t>
            </a:r>
            <a:r>
              <a:rPr lang="en-US" sz="2800" dirty="0">
                <a:solidFill>
                  <a:srgbClr val="273239"/>
                </a:solidFill>
              </a:rPr>
              <a:t>l data is collected through Department of Environment Nepal.</a:t>
            </a:r>
          </a:p>
          <a:p>
            <a:pPr algn="l" rtl="0" fontAlgn="base"/>
            <a:r>
              <a:rPr lang="en-US" sz="2800" dirty="0">
                <a:solidFill>
                  <a:srgbClr val="273239"/>
                </a:solidFill>
                <a:hlinkClick r:id="rId2"/>
              </a:rPr>
              <a:t>https://doenv.gov.np/content/77/aqmsdata2024/</a:t>
            </a:r>
            <a:endParaRPr lang="en-US" sz="2800" dirty="0">
              <a:solidFill>
                <a:srgbClr val="273239"/>
              </a:solidFill>
            </a:endParaRPr>
          </a:p>
          <a:p>
            <a:pPr algn="l" rtl="0" fontAlgn="base"/>
            <a:r>
              <a:rPr lang="en-US" sz="2800" b="0" i="0" dirty="0">
                <a:solidFill>
                  <a:srgbClr val="273239"/>
                </a:solidFill>
                <a:effectLst/>
              </a:rPr>
              <a:t>La</a:t>
            </a:r>
            <a:r>
              <a:rPr lang="en-US" sz="2800" dirty="0">
                <a:solidFill>
                  <a:srgbClr val="273239"/>
                </a:solidFill>
              </a:rPr>
              <a:t>st 15 days data is calculated from AQMS API</a:t>
            </a:r>
          </a:p>
          <a:p>
            <a:pPr algn="l" rtl="0" fontAlgn="base"/>
            <a:r>
              <a:rPr lang="en-US" sz="2800" b="0" i="0" dirty="0">
                <a:solidFill>
                  <a:srgbClr val="273239"/>
                </a:solidFill>
                <a:effectLst/>
                <a:hlinkClick r:id="rId3"/>
              </a:rPr>
              <a:t>https://pollution.gov.np/gss/api/observation</a:t>
            </a:r>
            <a:endParaRPr lang="en-US" sz="2800" b="0" i="0" dirty="0">
              <a:solidFill>
                <a:srgbClr val="273239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4148051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D26E1-A983-0071-7059-C9077A061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station </a:t>
            </a:r>
            <a:r>
              <a:rPr lang="en-US" dirty="0" err="1"/>
              <a:t>Ratnapark</a:t>
            </a:r>
            <a:r>
              <a:rPr lang="en-US" dirty="0"/>
              <a:t> is </a:t>
            </a:r>
            <a:r>
              <a:rPr lang="en-US" dirty="0" err="1"/>
              <a:t>choosen</a:t>
            </a:r>
            <a:r>
              <a:rPr lang="en-US" dirty="0"/>
              <a:t>?</a:t>
            </a:r>
            <a:endParaRPr lang="en-AE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9ED368E9-2BA0-DEF2-8E5B-53BF287FD88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162704"/>
            <a:ext cx="5720092" cy="22601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just" fontAlgn="base">
              <a:lnSpc>
                <a:spcPct val="80000"/>
              </a:lnSpc>
              <a:buFont typeface="Courier New" panose="02070309020205020404" pitchFamily="49" charset="0"/>
              <a:buChar char="o"/>
              <a:tabLst/>
            </a:pPr>
            <a:r>
              <a:rPr lang="en-US" altLang="en-US" sz="3700" dirty="0"/>
              <a:t>Consistent data availability </a:t>
            </a:r>
          </a:p>
          <a:p>
            <a:pPr marR="0" lvl="0" algn="just" fontAlgn="base">
              <a:lnSpc>
                <a:spcPct val="80000"/>
              </a:lnSpc>
              <a:buFont typeface="Courier New" panose="02070309020205020404" pitchFamily="49" charset="0"/>
              <a:buChar char="o"/>
              <a:tabLst/>
            </a:pPr>
            <a:r>
              <a:rPr lang="en-US" altLang="en-US" sz="3700" dirty="0"/>
              <a:t>Large observation count </a:t>
            </a:r>
          </a:p>
          <a:p>
            <a:pPr marR="0" lvl="0" algn="just" fontAlgn="base">
              <a:lnSpc>
                <a:spcPct val="80000"/>
              </a:lnSpc>
              <a:buFont typeface="Courier New" panose="02070309020205020404" pitchFamily="49" charset="0"/>
              <a:buChar char="o"/>
              <a:tabLst/>
            </a:pPr>
            <a:r>
              <a:rPr lang="en-US" altLang="en-US" sz="3700" dirty="0"/>
              <a:t>Fewer missing values </a:t>
            </a:r>
          </a:p>
        </p:txBody>
      </p:sp>
    </p:spTree>
    <p:extLst>
      <p:ext uri="{BB962C8B-B14F-4D97-AF65-F5344CB8AC3E}">
        <p14:creationId xmlns:p14="http://schemas.microsoft.com/office/powerpoint/2010/main" val="21659472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D26E1-A983-0071-7059-C9077A061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Challenges </a:t>
            </a:r>
            <a:endParaRPr lang="en-AE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F27E5CF0-383E-A723-4B25-CB7E92DEE2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6963" y="1683371"/>
            <a:ext cx="6856592" cy="4165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just" fontAlgn="base">
              <a:lnSpc>
                <a:spcPct val="80000"/>
              </a:lnSpc>
              <a:buFont typeface="Courier New" panose="02070309020205020404" pitchFamily="49" charset="0"/>
              <a:buChar char="o"/>
            </a:pPr>
            <a:r>
              <a:rPr lang="en-US" altLang="en-US" sz="3700" dirty="0"/>
              <a:t>API history limitations </a:t>
            </a:r>
          </a:p>
          <a:p>
            <a:pPr algn="just" fontAlgn="base">
              <a:lnSpc>
                <a:spcPct val="80000"/>
              </a:lnSpc>
              <a:buFont typeface="Courier New" panose="02070309020205020404" pitchFamily="49" charset="0"/>
              <a:buChar char="o"/>
            </a:pPr>
            <a:r>
              <a:rPr lang="en-US" altLang="en-US" sz="3700" dirty="0"/>
              <a:t>Missing observations</a:t>
            </a:r>
          </a:p>
          <a:p>
            <a:pPr algn="just" fontAlgn="base">
              <a:lnSpc>
                <a:spcPct val="80000"/>
              </a:lnSpc>
              <a:buFont typeface="Courier New" panose="02070309020205020404" pitchFamily="49" charset="0"/>
              <a:buChar char="o"/>
            </a:pPr>
            <a:r>
              <a:rPr lang="en-US" altLang="en-US" sz="3700" dirty="0"/>
              <a:t>Inconsistent columns  </a:t>
            </a:r>
          </a:p>
          <a:p>
            <a:pPr algn="just" fontAlgn="base">
              <a:lnSpc>
                <a:spcPct val="80000"/>
              </a:lnSpc>
              <a:buFont typeface="Courier New" panose="02070309020205020404" pitchFamily="49" charset="0"/>
              <a:buChar char="o"/>
            </a:pPr>
            <a:r>
              <a:rPr lang="en-US" altLang="en-US" sz="3700" dirty="0"/>
              <a:t>Invalid values (-9999) </a:t>
            </a:r>
          </a:p>
          <a:p>
            <a:pPr algn="just" fontAlgn="base">
              <a:lnSpc>
                <a:spcPct val="80000"/>
              </a:lnSpc>
              <a:buFont typeface="Courier New" panose="02070309020205020404" pitchFamily="49" charset="0"/>
              <a:buChar char="o"/>
            </a:pPr>
            <a:r>
              <a:rPr lang="en-US" altLang="en-US" sz="3700" dirty="0"/>
              <a:t>Uneven data frequency </a:t>
            </a:r>
          </a:p>
          <a:p>
            <a:pPr algn="just" fontAlgn="base">
              <a:lnSpc>
                <a:spcPct val="80000"/>
              </a:lnSpc>
              <a:buFont typeface="Courier New" panose="02070309020205020404" pitchFamily="49" charset="0"/>
              <a:buChar char="o"/>
            </a:pPr>
            <a:r>
              <a:rPr lang="en-US" altLang="en-US" sz="3700" dirty="0"/>
              <a:t>Short historical period </a:t>
            </a:r>
          </a:p>
        </p:txBody>
      </p:sp>
    </p:spTree>
    <p:extLst>
      <p:ext uri="{BB962C8B-B14F-4D97-AF65-F5344CB8AC3E}">
        <p14:creationId xmlns:p14="http://schemas.microsoft.com/office/powerpoint/2010/main" val="9259275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D26E1-A983-0071-7059-C9077A061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Preprocessing 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F30318-C326-D86A-33E3-DC93114A13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8909362" cy="3571655"/>
          </a:xfrm>
        </p:spPr>
        <p:txBody>
          <a:bodyPr>
            <a:normAutofit fontScale="92500" lnSpcReduction="10000"/>
          </a:bodyPr>
          <a:lstStyle/>
          <a:p>
            <a:pPr algn="just" fontAlgn="base">
              <a:buFont typeface="Courier New" panose="02070309020205020404" pitchFamily="49" charset="0"/>
              <a:buChar char="o"/>
            </a:pPr>
            <a:r>
              <a:rPr lang="en-US" sz="3700" dirty="0"/>
              <a:t>Raw AQMS Data</a:t>
            </a:r>
          </a:p>
          <a:p>
            <a:pPr algn="just" fontAlgn="base">
              <a:buFont typeface="Courier New" panose="02070309020205020404" pitchFamily="49" charset="0"/>
              <a:buChar char="o"/>
            </a:pPr>
            <a:r>
              <a:rPr lang="en-US" sz="3700" dirty="0"/>
              <a:t>Cleaning </a:t>
            </a:r>
          </a:p>
          <a:p>
            <a:pPr algn="just" fontAlgn="base">
              <a:buFont typeface="Courier New" panose="02070309020205020404" pitchFamily="49" charset="0"/>
              <a:buChar char="o"/>
            </a:pPr>
            <a:r>
              <a:rPr lang="en-US" sz="3700" dirty="0"/>
              <a:t>Remove Invalid Values </a:t>
            </a:r>
          </a:p>
          <a:p>
            <a:pPr algn="just" fontAlgn="base">
              <a:buFont typeface="Courier New" panose="02070309020205020404" pitchFamily="49" charset="0"/>
              <a:buChar char="o"/>
            </a:pPr>
            <a:r>
              <a:rPr lang="en-US" sz="3700" dirty="0"/>
              <a:t>Merge Pollutants </a:t>
            </a:r>
          </a:p>
          <a:p>
            <a:pPr algn="just" fontAlgn="base">
              <a:buFont typeface="Courier New" panose="02070309020205020404" pitchFamily="49" charset="0"/>
              <a:buChar char="o"/>
            </a:pPr>
            <a:r>
              <a:rPr lang="en-US" sz="3700" dirty="0"/>
              <a:t>Daily Aggregation</a:t>
            </a:r>
          </a:p>
          <a:p>
            <a:pPr algn="just" fontAlgn="base">
              <a:buFont typeface="Courier New" panose="02070309020205020404" pitchFamily="49" charset="0"/>
              <a:buChar char="o"/>
            </a:pPr>
            <a:r>
              <a:rPr lang="en-US" sz="3700" dirty="0"/>
              <a:t>Processed Dataset</a:t>
            </a:r>
          </a:p>
        </p:txBody>
      </p:sp>
    </p:spTree>
    <p:extLst>
      <p:ext uri="{BB962C8B-B14F-4D97-AF65-F5344CB8AC3E}">
        <p14:creationId xmlns:p14="http://schemas.microsoft.com/office/powerpoint/2010/main" val="39591654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D26E1-A983-0071-7059-C9077A061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Engineering</a:t>
            </a:r>
            <a:endParaRPr lang="en-AE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81C347B-5A1F-D5C1-DC86-A52CED9B332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6963" y="1959852"/>
            <a:ext cx="3977179" cy="33446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just" fontAlgn="base">
              <a:lnSpc>
                <a:spcPct val="80000"/>
              </a:lnSpc>
              <a:buFont typeface="Courier New" panose="02070309020205020404" pitchFamily="49" charset="0"/>
              <a:buChar char="o"/>
              <a:tabLst/>
            </a:pPr>
            <a:r>
              <a:rPr lang="en-US" altLang="en-US" sz="3400" dirty="0"/>
              <a:t>Lag Features </a:t>
            </a:r>
          </a:p>
          <a:p>
            <a:pPr marR="0" lvl="0" algn="just" fontAlgn="base">
              <a:lnSpc>
                <a:spcPct val="80000"/>
              </a:lnSpc>
              <a:buFont typeface="Courier New" panose="02070309020205020404" pitchFamily="49" charset="0"/>
              <a:buChar char="o"/>
              <a:tabLst/>
            </a:pPr>
            <a:r>
              <a:rPr lang="en-US" altLang="en-US" sz="3400" dirty="0"/>
              <a:t>Rolling Mean </a:t>
            </a:r>
          </a:p>
          <a:p>
            <a:pPr marR="0" lvl="0" algn="just" fontAlgn="base">
              <a:lnSpc>
                <a:spcPct val="80000"/>
              </a:lnSpc>
              <a:buFont typeface="Courier New" panose="02070309020205020404" pitchFamily="49" charset="0"/>
              <a:buChar char="o"/>
              <a:tabLst/>
            </a:pPr>
            <a:r>
              <a:rPr lang="en-US" altLang="en-US" sz="3400" dirty="0"/>
              <a:t>EWMA </a:t>
            </a:r>
          </a:p>
          <a:p>
            <a:pPr marR="0" lvl="0" algn="just" fontAlgn="base">
              <a:lnSpc>
                <a:spcPct val="80000"/>
              </a:lnSpc>
              <a:buFont typeface="Courier New" panose="02070309020205020404" pitchFamily="49" charset="0"/>
              <a:buChar char="o"/>
              <a:tabLst/>
            </a:pPr>
            <a:r>
              <a:rPr lang="en-US" altLang="en-US" sz="3400" dirty="0"/>
              <a:t>Change Features </a:t>
            </a:r>
          </a:p>
          <a:p>
            <a:pPr marR="0" lvl="0" algn="just" fontAlgn="base">
              <a:lnSpc>
                <a:spcPct val="80000"/>
              </a:lnSpc>
              <a:buFont typeface="Courier New" panose="02070309020205020404" pitchFamily="49" charset="0"/>
              <a:buChar char="o"/>
              <a:tabLst/>
            </a:pPr>
            <a:r>
              <a:rPr lang="en-US" altLang="en-US" sz="3400" dirty="0"/>
              <a:t>Combined Features </a:t>
            </a:r>
          </a:p>
        </p:txBody>
      </p:sp>
    </p:spTree>
    <p:extLst>
      <p:ext uri="{BB962C8B-B14F-4D97-AF65-F5344CB8AC3E}">
        <p14:creationId xmlns:p14="http://schemas.microsoft.com/office/powerpoint/2010/main" val="10188222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D26E1-A983-0071-7059-C9077A061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Explanation</a:t>
            </a:r>
            <a:endParaRPr lang="en-AE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26F9253-1AE4-457C-5FDC-71368D08EBA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6963" y="2258907"/>
            <a:ext cx="6485943" cy="27465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just" fontAlgn="base">
              <a:lnSpc>
                <a:spcPct val="80000"/>
              </a:lnSpc>
              <a:buFont typeface="Courier New" panose="02070309020205020404" pitchFamily="49" charset="0"/>
              <a:buChar char="o"/>
            </a:pPr>
            <a:r>
              <a:rPr lang="en-US" altLang="en-US" sz="3400" dirty="0"/>
              <a:t>Lags capture history </a:t>
            </a:r>
          </a:p>
          <a:p>
            <a:pPr algn="just" fontAlgn="base">
              <a:lnSpc>
                <a:spcPct val="80000"/>
              </a:lnSpc>
              <a:buFont typeface="Courier New" panose="02070309020205020404" pitchFamily="49" charset="0"/>
              <a:buChar char="o"/>
            </a:pPr>
            <a:r>
              <a:rPr lang="en-US" altLang="en-US" sz="3400" dirty="0"/>
              <a:t>Rolling captures average behavior </a:t>
            </a:r>
          </a:p>
          <a:p>
            <a:pPr algn="just" fontAlgn="base">
              <a:lnSpc>
                <a:spcPct val="80000"/>
              </a:lnSpc>
              <a:buFont typeface="Courier New" panose="02070309020205020404" pitchFamily="49" charset="0"/>
              <a:buChar char="o"/>
            </a:pPr>
            <a:r>
              <a:rPr lang="en-US" altLang="en-US" sz="3400" dirty="0"/>
              <a:t>EWMA captures recent behavior </a:t>
            </a:r>
          </a:p>
          <a:p>
            <a:pPr algn="just" fontAlgn="base">
              <a:lnSpc>
                <a:spcPct val="80000"/>
              </a:lnSpc>
              <a:buFont typeface="Courier New" panose="02070309020205020404" pitchFamily="49" charset="0"/>
              <a:buChar char="o"/>
            </a:pPr>
            <a:r>
              <a:rPr lang="en-US" altLang="en-US" sz="3400" dirty="0"/>
              <a:t>Change captures movement </a:t>
            </a:r>
          </a:p>
        </p:txBody>
      </p:sp>
    </p:spTree>
    <p:extLst>
      <p:ext uri="{BB962C8B-B14F-4D97-AF65-F5344CB8AC3E}">
        <p14:creationId xmlns:p14="http://schemas.microsoft.com/office/powerpoint/2010/main" val="2427533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D26E1-A983-0071-7059-C9077A061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Models Evaluated</a:t>
            </a:r>
            <a:endParaRPr lang="en-AE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716CD25-060C-47FC-00E6-2043D04D5B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6962" y="1959851"/>
            <a:ext cx="7210276" cy="33446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just" fontAlgn="base">
              <a:lnSpc>
                <a:spcPct val="80000"/>
              </a:lnSpc>
              <a:buFont typeface="Courier New" panose="02070309020205020404" pitchFamily="49" charset="0"/>
              <a:buChar char="o"/>
              <a:tabLst/>
            </a:pPr>
            <a:r>
              <a:rPr lang="en-US" altLang="en-US" sz="3400" dirty="0"/>
              <a:t>Linear Regression </a:t>
            </a:r>
          </a:p>
          <a:p>
            <a:pPr marR="0" lvl="0" algn="just" fontAlgn="base">
              <a:lnSpc>
                <a:spcPct val="80000"/>
              </a:lnSpc>
              <a:buFont typeface="Courier New" panose="02070309020205020404" pitchFamily="49" charset="0"/>
              <a:buChar char="o"/>
              <a:tabLst/>
            </a:pPr>
            <a:r>
              <a:rPr lang="en-US" altLang="en-US" sz="3400" dirty="0"/>
              <a:t>Ridge Regression </a:t>
            </a:r>
          </a:p>
          <a:p>
            <a:pPr marR="0" lvl="0" algn="just" fontAlgn="base">
              <a:lnSpc>
                <a:spcPct val="80000"/>
              </a:lnSpc>
              <a:buFont typeface="Courier New" panose="02070309020205020404" pitchFamily="49" charset="0"/>
              <a:buChar char="o"/>
              <a:tabLst/>
            </a:pPr>
            <a:r>
              <a:rPr lang="en-US" altLang="en-US" sz="3400" dirty="0"/>
              <a:t>Random Forest </a:t>
            </a:r>
          </a:p>
          <a:p>
            <a:pPr marR="0" lvl="0" algn="just" fontAlgn="base">
              <a:lnSpc>
                <a:spcPct val="80000"/>
              </a:lnSpc>
              <a:buFont typeface="Courier New" panose="02070309020205020404" pitchFamily="49" charset="0"/>
              <a:buChar char="o"/>
              <a:tabLst/>
            </a:pPr>
            <a:r>
              <a:rPr lang="en-US" altLang="en-US" sz="3400" dirty="0"/>
              <a:t>Gradient Boosting </a:t>
            </a:r>
          </a:p>
          <a:p>
            <a:pPr marR="0" lvl="0" algn="just" fontAlgn="base">
              <a:lnSpc>
                <a:spcPct val="80000"/>
              </a:lnSpc>
              <a:buFont typeface="Courier New" panose="02070309020205020404" pitchFamily="49" charset="0"/>
              <a:buChar char="o"/>
              <a:tabLst/>
            </a:pPr>
            <a:r>
              <a:rPr lang="en-US" altLang="en-US" sz="3400" dirty="0"/>
              <a:t>Extra Trees </a:t>
            </a:r>
          </a:p>
        </p:txBody>
      </p:sp>
    </p:spTree>
    <p:extLst>
      <p:ext uri="{BB962C8B-B14F-4D97-AF65-F5344CB8AC3E}">
        <p14:creationId xmlns:p14="http://schemas.microsoft.com/office/powerpoint/2010/main" val="5453860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D26E1-A983-0071-7059-C9077A061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PM10 Model Evaluation</a:t>
            </a:r>
            <a:endParaRPr lang="en-A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6EA8C7C-EC5E-593C-859B-A50D3E4A4C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79" y="2052445"/>
            <a:ext cx="9513211" cy="2753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3387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D26E1-A983-0071-7059-C9077A061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PM2.5 Model Evaluation</a:t>
            </a:r>
            <a:endParaRPr lang="en-A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ED7D38-9A4B-8E2C-D0C5-53631B5D62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976235"/>
            <a:ext cx="9789256" cy="2905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2761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D26E1-A983-0071-7059-C9077A061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Architecture</a:t>
            </a:r>
            <a:endParaRPr lang="en-AE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26F9253-1AE4-457C-5FDC-71368D08EBA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6963" y="1695973"/>
            <a:ext cx="8581875" cy="45409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just" fontAlgn="base">
              <a:lnSpc>
                <a:spcPct val="80000"/>
              </a:lnSpc>
              <a:buFont typeface="Courier New" panose="02070309020205020404" pitchFamily="49" charset="0"/>
              <a:buChar char="o"/>
            </a:pPr>
            <a:r>
              <a:rPr lang="en-US" altLang="en-US" sz="3400" dirty="0"/>
              <a:t>AQMS API</a:t>
            </a:r>
          </a:p>
          <a:p>
            <a:pPr algn="just" fontAlgn="base">
              <a:lnSpc>
                <a:spcPct val="80000"/>
              </a:lnSpc>
              <a:buFont typeface="Courier New" panose="02070309020205020404" pitchFamily="49" charset="0"/>
              <a:buChar char="o"/>
            </a:pPr>
            <a:r>
              <a:rPr lang="en-US" altLang="en-US" sz="3400" dirty="0"/>
              <a:t>Data Collection     </a:t>
            </a:r>
          </a:p>
          <a:p>
            <a:pPr algn="just" fontAlgn="base">
              <a:lnSpc>
                <a:spcPct val="80000"/>
              </a:lnSpc>
              <a:buFont typeface="Courier New" panose="02070309020205020404" pitchFamily="49" charset="0"/>
              <a:buChar char="o"/>
            </a:pPr>
            <a:r>
              <a:rPr lang="en-US" altLang="en-US" sz="3400" dirty="0"/>
              <a:t>Feature Engineering     </a:t>
            </a:r>
          </a:p>
          <a:p>
            <a:pPr algn="just" fontAlgn="base">
              <a:lnSpc>
                <a:spcPct val="80000"/>
              </a:lnSpc>
              <a:buFont typeface="Courier New" panose="02070309020205020404" pitchFamily="49" charset="0"/>
              <a:buChar char="o"/>
            </a:pPr>
            <a:r>
              <a:rPr lang="en-US" altLang="en-US" sz="3400" dirty="0"/>
              <a:t>Saved Models     </a:t>
            </a:r>
          </a:p>
          <a:p>
            <a:pPr algn="just" fontAlgn="base">
              <a:lnSpc>
                <a:spcPct val="80000"/>
              </a:lnSpc>
              <a:buFont typeface="Courier New" panose="02070309020205020404" pitchFamily="49" charset="0"/>
              <a:buChar char="o"/>
            </a:pPr>
            <a:r>
              <a:rPr lang="en-US" altLang="en-US" sz="3400" dirty="0"/>
              <a:t>PM2.5 Forecast &amp; PM10 Forecast     </a:t>
            </a:r>
          </a:p>
          <a:p>
            <a:pPr algn="just" fontAlgn="base">
              <a:lnSpc>
                <a:spcPct val="80000"/>
              </a:lnSpc>
              <a:buFont typeface="Courier New" panose="02070309020205020404" pitchFamily="49" charset="0"/>
              <a:buChar char="o"/>
            </a:pPr>
            <a:r>
              <a:rPr lang="en-US" altLang="en-US" sz="3400" dirty="0"/>
              <a:t>AQI Calculation     </a:t>
            </a:r>
          </a:p>
          <a:p>
            <a:pPr algn="just" fontAlgn="base">
              <a:lnSpc>
                <a:spcPct val="80000"/>
              </a:lnSpc>
              <a:buFont typeface="Courier New" panose="02070309020205020404" pitchFamily="49" charset="0"/>
              <a:buChar char="o"/>
            </a:pPr>
            <a:r>
              <a:rPr lang="en-US" altLang="en-US" sz="3400" dirty="0"/>
              <a:t>Web Application</a:t>
            </a:r>
          </a:p>
        </p:txBody>
      </p:sp>
    </p:spTree>
    <p:extLst>
      <p:ext uri="{BB962C8B-B14F-4D97-AF65-F5344CB8AC3E}">
        <p14:creationId xmlns:p14="http://schemas.microsoft.com/office/powerpoint/2010/main" val="14209445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D26E1-A983-0071-7059-C9077A061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Limitations</a:t>
            </a:r>
            <a:endParaRPr lang="en-AE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9DD955E-6F3A-E96A-4D3E-4F58C3C96C4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6962" y="2294021"/>
            <a:ext cx="6882471" cy="33446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just" fontAlgn="base">
              <a:lnSpc>
                <a:spcPct val="80000"/>
              </a:lnSpc>
              <a:buFont typeface="Courier New" panose="02070309020205020404" pitchFamily="49" charset="0"/>
              <a:buChar char="o"/>
              <a:tabLst/>
            </a:pPr>
            <a:r>
              <a:rPr lang="en-US" altLang="en-US" sz="3400" dirty="0"/>
              <a:t>Only one station used </a:t>
            </a:r>
          </a:p>
          <a:p>
            <a:pPr marR="0" lvl="0" algn="just" fontAlgn="base">
              <a:lnSpc>
                <a:spcPct val="80000"/>
              </a:lnSpc>
              <a:buFont typeface="Courier New" panose="02070309020205020404" pitchFamily="49" charset="0"/>
              <a:buChar char="o"/>
              <a:tabLst/>
            </a:pPr>
            <a:r>
              <a:rPr lang="en-US" altLang="en-US" sz="3400" dirty="0"/>
              <a:t>Limited historical data </a:t>
            </a:r>
          </a:p>
          <a:p>
            <a:pPr marR="0" lvl="0" algn="just" fontAlgn="base">
              <a:lnSpc>
                <a:spcPct val="80000"/>
              </a:lnSpc>
              <a:buFont typeface="Courier New" panose="02070309020205020404" pitchFamily="49" charset="0"/>
              <a:buChar char="o"/>
              <a:tabLst/>
            </a:pPr>
            <a:r>
              <a:rPr lang="en-US" altLang="en-US" sz="3400" dirty="0"/>
              <a:t>Weather data not included </a:t>
            </a:r>
          </a:p>
          <a:p>
            <a:pPr marR="0" lvl="0" algn="just" fontAlgn="base">
              <a:lnSpc>
                <a:spcPct val="80000"/>
              </a:lnSpc>
              <a:buFont typeface="Courier New" panose="02070309020205020404" pitchFamily="49" charset="0"/>
              <a:buChar char="o"/>
              <a:tabLst/>
            </a:pPr>
            <a:r>
              <a:rPr lang="en-US" altLang="en-US" sz="3400" dirty="0"/>
              <a:t>PM1 not utilized </a:t>
            </a:r>
          </a:p>
          <a:p>
            <a:pPr marR="0" lvl="0" algn="just" fontAlgn="base">
              <a:lnSpc>
                <a:spcPct val="80000"/>
              </a:lnSpc>
              <a:buFont typeface="Courier New" panose="02070309020205020404" pitchFamily="49" charset="0"/>
              <a:buChar char="o"/>
              <a:tabLst/>
            </a:pPr>
            <a:r>
              <a:rPr lang="en-US" altLang="en-US" sz="3400" dirty="0"/>
              <a:t>Forecast horizon only 1 day </a:t>
            </a:r>
          </a:p>
        </p:txBody>
      </p:sp>
    </p:spTree>
    <p:extLst>
      <p:ext uri="{BB962C8B-B14F-4D97-AF65-F5344CB8AC3E}">
        <p14:creationId xmlns:p14="http://schemas.microsoft.com/office/powerpoint/2010/main" val="16519077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D26E1-A983-0071-7059-C9077A061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Work</a:t>
            </a:r>
            <a:endParaRPr lang="en-AE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3197439-4236-B860-7C6B-7F004FE1F5F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6963" y="1402645"/>
            <a:ext cx="8573248" cy="45409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just" fontAlgn="base">
              <a:lnSpc>
                <a:spcPct val="80000"/>
              </a:lnSpc>
              <a:buFont typeface="Courier New" panose="02070309020205020404" pitchFamily="49" charset="0"/>
              <a:buChar char="o"/>
            </a:pPr>
            <a:r>
              <a:rPr lang="en-US" altLang="en-US" sz="3400" dirty="0"/>
              <a:t>Use all Kathmandu stations </a:t>
            </a:r>
          </a:p>
          <a:p>
            <a:pPr algn="just" fontAlgn="base">
              <a:lnSpc>
                <a:spcPct val="80000"/>
              </a:lnSpc>
              <a:buFont typeface="Courier New" panose="02070309020205020404" pitchFamily="49" charset="0"/>
              <a:buChar char="o"/>
            </a:pPr>
            <a:r>
              <a:rPr lang="en-US" altLang="en-US" sz="3400" dirty="0"/>
              <a:t>Add temperature </a:t>
            </a:r>
          </a:p>
          <a:p>
            <a:pPr algn="just" fontAlgn="base">
              <a:lnSpc>
                <a:spcPct val="80000"/>
              </a:lnSpc>
              <a:buFont typeface="Courier New" panose="02070309020205020404" pitchFamily="49" charset="0"/>
              <a:buChar char="o"/>
            </a:pPr>
            <a:r>
              <a:rPr lang="en-US" altLang="en-US" sz="3400" dirty="0"/>
              <a:t>Add humidity </a:t>
            </a:r>
          </a:p>
          <a:p>
            <a:pPr algn="just" fontAlgn="base">
              <a:lnSpc>
                <a:spcPct val="80000"/>
              </a:lnSpc>
              <a:buFont typeface="Courier New" panose="02070309020205020404" pitchFamily="49" charset="0"/>
              <a:buChar char="o"/>
            </a:pPr>
            <a:r>
              <a:rPr lang="en-US" altLang="en-US" sz="3400" dirty="0"/>
              <a:t>Add rainfall </a:t>
            </a:r>
          </a:p>
          <a:p>
            <a:pPr algn="just" fontAlgn="base">
              <a:lnSpc>
                <a:spcPct val="80000"/>
              </a:lnSpc>
              <a:buFont typeface="Courier New" panose="02070309020205020404" pitchFamily="49" charset="0"/>
              <a:buChar char="o"/>
            </a:pPr>
            <a:r>
              <a:rPr lang="en-US" altLang="en-US" sz="3400" dirty="0"/>
              <a:t>Add wind speed </a:t>
            </a:r>
          </a:p>
          <a:p>
            <a:pPr algn="just" fontAlgn="base">
              <a:lnSpc>
                <a:spcPct val="80000"/>
              </a:lnSpc>
              <a:buFont typeface="Courier New" panose="02070309020205020404" pitchFamily="49" charset="0"/>
              <a:buChar char="o"/>
            </a:pPr>
            <a:r>
              <a:rPr lang="en-US" altLang="en-US" sz="3400" dirty="0"/>
              <a:t>LSTM / </a:t>
            </a:r>
            <a:r>
              <a:rPr lang="en-US" altLang="en-US" sz="3400" dirty="0" err="1"/>
              <a:t>XGBoost</a:t>
            </a:r>
            <a:r>
              <a:rPr lang="en-US" altLang="en-US" sz="3400" dirty="0"/>
              <a:t> models </a:t>
            </a:r>
          </a:p>
          <a:p>
            <a:pPr algn="just" fontAlgn="base">
              <a:lnSpc>
                <a:spcPct val="80000"/>
              </a:lnSpc>
              <a:buFont typeface="Courier New" panose="02070309020205020404" pitchFamily="49" charset="0"/>
              <a:buChar char="o"/>
            </a:pPr>
            <a:r>
              <a:rPr lang="en-US" altLang="en-US" sz="3400" dirty="0"/>
              <a:t>3-day and 7-day forecasting</a:t>
            </a:r>
          </a:p>
        </p:txBody>
      </p:sp>
    </p:spTree>
    <p:extLst>
      <p:ext uri="{BB962C8B-B14F-4D97-AF65-F5344CB8AC3E}">
        <p14:creationId xmlns:p14="http://schemas.microsoft.com/office/powerpoint/2010/main" val="32662195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D26E1-A983-0071-7059-C9077A061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AE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3197439-4236-B860-7C6B-7F004FE1F5F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6962" y="2027720"/>
            <a:ext cx="10160509" cy="32907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 algn="just" fontAlgn="base">
              <a:lnSpc>
                <a:spcPct val="80000"/>
              </a:lnSpc>
              <a:buNone/>
            </a:pPr>
            <a:r>
              <a:rPr lang="en-US" sz="3200" dirty="0"/>
              <a:t>This project successfully developed a machine-learning-based system to forecast next-day PM2.5 and PM10 levels using Nepal’s air-quality data. After comparing different feature-engineering techniques and models, the best-performing approaches were selected and integrated with AQI calculation to provide a practical web-based air-quality forecast for </a:t>
            </a:r>
            <a:r>
              <a:rPr lang="en-US" sz="3200" dirty="0" err="1"/>
              <a:t>Ratnapark</a:t>
            </a:r>
            <a:endParaRPr lang="en-US" altLang="en-US" sz="3400" dirty="0"/>
          </a:p>
        </p:txBody>
      </p:sp>
    </p:spTree>
    <p:extLst>
      <p:ext uri="{BB962C8B-B14F-4D97-AF65-F5344CB8AC3E}">
        <p14:creationId xmlns:p14="http://schemas.microsoft.com/office/powerpoint/2010/main" val="273583179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219</TotalTime>
  <Words>412</Words>
  <Application>Microsoft Office PowerPoint</Application>
  <PresentationFormat>Widescreen</PresentationFormat>
  <Paragraphs>110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Aptos</vt:lpstr>
      <vt:lpstr>Arial</vt:lpstr>
      <vt:lpstr>Calibri</vt:lpstr>
      <vt:lpstr>Calibri Light</vt:lpstr>
      <vt:lpstr>Courier New</vt:lpstr>
      <vt:lpstr>Retrospect</vt:lpstr>
      <vt:lpstr>AQI Prediction</vt:lpstr>
      <vt:lpstr>What is an AQI?</vt:lpstr>
      <vt:lpstr>AQI Categories in Nepal</vt:lpstr>
      <vt:lpstr>Pollutants Used</vt:lpstr>
      <vt:lpstr>How is AQI calculated?</vt:lpstr>
      <vt:lpstr>How is sub index calculated?</vt:lpstr>
      <vt:lpstr>Objectives</vt:lpstr>
      <vt:lpstr>Data sources</vt:lpstr>
      <vt:lpstr>Why station Ratnapark is choosen?</vt:lpstr>
      <vt:lpstr>Dataset Challenges </vt:lpstr>
      <vt:lpstr>Data Preprocessing </vt:lpstr>
      <vt:lpstr>Features Engineering</vt:lpstr>
      <vt:lpstr>Features Explanation</vt:lpstr>
      <vt:lpstr>Models Evaluated</vt:lpstr>
      <vt:lpstr>PM10 Model Evaluation</vt:lpstr>
      <vt:lpstr>PM2.5 Model Evaluation</vt:lpstr>
      <vt:lpstr>System Architecture</vt:lpstr>
      <vt:lpstr>System Limitations</vt:lpstr>
      <vt:lpstr>Future Work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Anoj Pradhan</dc:creator>
  <cp:lastModifiedBy>Anoj Pradhan</cp:lastModifiedBy>
  <cp:revision>7</cp:revision>
  <dcterms:created xsi:type="dcterms:W3CDTF">2026-06-29T09:25:02Z</dcterms:created>
  <dcterms:modified xsi:type="dcterms:W3CDTF">2026-08-19T13:38:13Z</dcterms:modified>
</cp:coreProperties>
</file>